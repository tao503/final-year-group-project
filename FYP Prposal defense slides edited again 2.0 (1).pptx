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8"/>
  </p:notesMasterIdLst>
  <p:sldIdLst>
    <p:sldId id="258" r:id="rId2"/>
    <p:sldId id="259" r:id="rId3"/>
    <p:sldId id="260" r:id="rId4"/>
    <p:sldId id="263" r:id="rId5"/>
    <p:sldId id="257" r:id="rId6"/>
    <p:sldId id="268" r:id="rId7"/>
    <p:sldId id="262" r:id="rId8"/>
    <p:sldId id="261" r:id="rId9"/>
    <p:sldId id="265" r:id="rId10"/>
    <p:sldId id="264" r:id="rId11"/>
    <p:sldId id="266" r:id="rId12"/>
    <p:sldId id="272" r:id="rId13"/>
    <p:sldId id="267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84234-9C37-49C1-AFE7-BFC30EE0B542}">
          <p14:sldIdLst>
            <p14:sldId id="258"/>
            <p14:sldId id="259"/>
            <p14:sldId id="260"/>
            <p14:sldId id="263"/>
            <p14:sldId id="257"/>
            <p14:sldId id="268"/>
            <p14:sldId id="262"/>
            <p14:sldId id="261"/>
            <p14:sldId id="265"/>
            <p14:sldId id="264"/>
            <p14:sldId id="266"/>
            <p14:sldId id="272"/>
            <p14:sldId id="267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>
        <p:scale>
          <a:sx n="58" d="100"/>
          <a:sy n="58" d="100"/>
        </p:scale>
        <p:origin x="14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95EE0-2CCC-4698-BAAC-51A727F505DC}" type="datetimeFigureOut">
              <a:rPr lang="en-NG" smtClean="0"/>
              <a:t>28/10/2025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7CBEF6-4092-4963-8A42-6CB55FFE3FFC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298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CBEF6-4092-4963-8A42-6CB55FFE3FFC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67632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0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5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5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0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0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0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4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5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08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2143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78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33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70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40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33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4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E33AB-1D6E-3FB8-FC90-433E9F9C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755" y="1874095"/>
            <a:ext cx="8229600" cy="1143000"/>
          </a:xfrm>
        </p:spPr>
        <p:txBody>
          <a:bodyPr>
            <a:norm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SMART ITEM RECOVERY ECOSYSTEM WITH DONATION INTEGRATION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6B3B168-29D5-75D2-7762-9926244735D3}"/>
              </a:ext>
            </a:extLst>
          </p:cNvPr>
          <p:cNvSpPr txBox="1">
            <a:spLocks/>
          </p:cNvSpPr>
          <p:nvPr/>
        </p:nvSpPr>
        <p:spPr>
          <a:xfrm>
            <a:off x="544285" y="42261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4D5DA1-6B33-BA1E-5EC3-E93EC3B2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1" y="76695"/>
            <a:ext cx="1131748" cy="1166977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C539D63E-1C9B-25EA-1850-991528A040C3}"/>
              </a:ext>
            </a:extLst>
          </p:cNvPr>
          <p:cNvSpPr txBox="1">
            <a:spLocks/>
          </p:cNvSpPr>
          <p:nvPr/>
        </p:nvSpPr>
        <p:spPr>
          <a:xfrm>
            <a:off x="141881" y="555829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Ummusulaim Usman 20221020, Taofeek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Ayanwale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20220372, Adil Ahmad-Rufai 20220860, Mahmud Rufai Sule 20221928,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Ugavah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Okeoghene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20220806,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Abdulmuheed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Ataba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Abdulazeez 20220519 </a:t>
            </a:r>
            <a:endParaRPr lang="en-NG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96CF5F2-8ACF-E731-193B-43BF8407CAE0}"/>
              </a:ext>
            </a:extLst>
          </p:cNvPr>
          <p:cNvSpPr txBox="1"/>
          <p:nvPr/>
        </p:nvSpPr>
        <p:spPr>
          <a:xfrm>
            <a:off x="5265050" y="283598"/>
            <a:ext cx="5170540" cy="70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Faculty of computing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Department of  Software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569CC6-72F9-9E26-1650-646439FB7EB9}"/>
              </a:ext>
            </a:extLst>
          </p:cNvPr>
          <p:cNvSpPr txBox="1"/>
          <p:nvPr/>
        </p:nvSpPr>
        <p:spPr>
          <a:xfrm>
            <a:off x="6311653" y="4656827"/>
            <a:ext cx="3416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Mr. Austin Ogar</a:t>
            </a:r>
            <a:endParaRPr lang="en-N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54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7FE2EDA-23D6-96BC-BA51-A1FB16EFC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501598"/>
              </p:ext>
            </p:extLst>
          </p:nvPr>
        </p:nvGraphicFramePr>
        <p:xfrm>
          <a:off x="72934" y="1991505"/>
          <a:ext cx="4413341" cy="3536000"/>
        </p:xfrm>
        <a:graphic>
          <a:graphicData uri="http://schemas.openxmlformats.org/drawingml/2006/table">
            <a:tbl>
              <a:tblPr/>
              <a:tblGrid>
                <a:gridCol w="65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1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Background of study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2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Problem Statement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3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7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Related Works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7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Significance of Study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553238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5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7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Aim and Objectives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3E3FF73-115C-3F3F-F4C8-5BEB42FA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893" y="473725"/>
            <a:ext cx="4183380" cy="91286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3A710-5050-828A-2B1F-6E7B7ABD5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531513"/>
              </p:ext>
            </p:extLst>
          </p:nvPr>
        </p:nvGraphicFramePr>
        <p:xfrm>
          <a:off x="4605051" y="2639704"/>
          <a:ext cx="4413341" cy="4194814"/>
        </p:xfrm>
        <a:graphic>
          <a:graphicData uri="http://schemas.openxmlformats.org/drawingml/2006/table">
            <a:tbl>
              <a:tblPr/>
              <a:tblGrid>
                <a:gridCol w="651260">
                  <a:extLst>
                    <a:ext uri="{9D8B030D-6E8A-4147-A177-3AD203B41FA5}">
                      <a16:colId xmlns:a16="http://schemas.microsoft.com/office/drawing/2014/main" val="3376511349"/>
                    </a:ext>
                  </a:extLst>
                </a:gridCol>
                <a:gridCol w="3762081">
                  <a:extLst>
                    <a:ext uri="{9D8B030D-6E8A-4147-A177-3AD203B41FA5}">
                      <a16:colId xmlns:a16="http://schemas.microsoft.com/office/drawing/2014/main" val="4012083702"/>
                    </a:ext>
                  </a:extLst>
                </a:gridCol>
              </a:tblGrid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6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Research Process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138383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7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Methodology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660257"/>
                  </a:ext>
                </a:extLst>
              </a:tr>
              <a:tr h="1010414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 and Tools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258697"/>
                  </a:ext>
                </a:extLst>
              </a:tr>
              <a:tr h="1010414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plan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826735"/>
                  </a:ext>
                </a:extLst>
              </a:tr>
              <a:tr h="67234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Garet Bold"/>
                        </a:rPr>
                        <a:t>10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Garet Bold"/>
                          <a:cs typeface="Times New Roman" panose="02020603050405020304" pitchFamily="18" charset="0"/>
                          <a:sym typeface="Garet Bold"/>
                        </a:rPr>
                        <a:t>References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73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6390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5296-5FDB-5E5D-68FE-730042DF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34" y="398504"/>
            <a:ext cx="4796347" cy="1293028"/>
          </a:xfrm>
          <a:noFill/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STUDY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C11C5-FDBF-665C-7840-AFF27AC0D538}"/>
              </a:ext>
            </a:extLst>
          </p:cNvPr>
          <p:cNvSpPr txBox="1"/>
          <p:nvPr/>
        </p:nvSpPr>
        <p:spPr>
          <a:xfrm>
            <a:off x="382772" y="5433237"/>
            <a:ext cx="2137144" cy="550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N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E78F49C-F09A-E3D4-C5E6-1B8924D2AD1A}"/>
              </a:ext>
            </a:extLst>
          </p:cNvPr>
          <p:cNvSpPr/>
          <p:nvPr/>
        </p:nvSpPr>
        <p:spPr>
          <a:xfrm>
            <a:off x="617645" y="1380615"/>
            <a:ext cx="2338206" cy="1502434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8DBFB4-A482-E001-8823-6BD2BD385876}"/>
              </a:ext>
            </a:extLst>
          </p:cNvPr>
          <p:cNvSpPr/>
          <p:nvPr/>
        </p:nvSpPr>
        <p:spPr>
          <a:xfrm>
            <a:off x="1786748" y="3159798"/>
            <a:ext cx="2338206" cy="150243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EDC207-BB58-49F2-D29F-B20F000786DF}"/>
              </a:ext>
            </a:extLst>
          </p:cNvPr>
          <p:cNvSpPr/>
          <p:nvPr/>
        </p:nvSpPr>
        <p:spPr>
          <a:xfrm>
            <a:off x="3008431" y="4957062"/>
            <a:ext cx="2338206" cy="1502434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45556-E479-E755-9819-0D984B7EB824}"/>
              </a:ext>
            </a:extLst>
          </p:cNvPr>
          <p:cNvSpPr txBox="1"/>
          <p:nvPr/>
        </p:nvSpPr>
        <p:spPr>
          <a:xfrm>
            <a:off x="3246706" y="1937479"/>
            <a:ext cx="4625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recovery systems have long played an essential role in places within communities by managing misplaced belongings.</a:t>
            </a:r>
            <a:endParaRPr lang="en-N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C8C823-A473-314E-8EEF-B46B8033B2C3}"/>
              </a:ext>
            </a:extLst>
          </p:cNvPr>
          <p:cNvSpPr txBox="1"/>
          <p:nvPr/>
        </p:nvSpPr>
        <p:spPr>
          <a:xfrm>
            <a:off x="4239076" y="3780460"/>
            <a:ext cx="46251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G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Universities still rely on manual methods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has proven to be inefficient in managing lost and found items.</a:t>
            </a:r>
            <a:endParaRPr lang="en-N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54D07-E1F4-B5CB-3BE7-603B18322F65}"/>
              </a:ext>
            </a:extLst>
          </p:cNvPr>
          <p:cNvSpPr txBox="1"/>
          <p:nvPr/>
        </p:nvSpPr>
        <p:spPr>
          <a:xfrm>
            <a:off x="5552430" y="5708279"/>
            <a:ext cx="3455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item recovery ecosystem with donation integration.</a:t>
            </a:r>
            <a:endParaRPr lang="en-N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26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5D03-0003-27B6-85BC-79AFE5BA1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66" y="515811"/>
            <a:ext cx="4409155" cy="12930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F8976626-AEAD-4470-43EE-C592AC5DA516}"/>
              </a:ext>
            </a:extLst>
          </p:cNvPr>
          <p:cNvSpPr/>
          <p:nvPr/>
        </p:nvSpPr>
        <p:spPr>
          <a:xfrm>
            <a:off x="0" y="2190308"/>
            <a:ext cx="2808060" cy="3015196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475682AA-53AC-6511-A50C-758305D67AA4}"/>
              </a:ext>
            </a:extLst>
          </p:cNvPr>
          <p:cNvSpPr/>
          <p:nvPr/>
        </p:nvSpPr>
        <p:spPr>
          <a:xfrm>
            <a:off x="3167970" y="2190308"/>
            <a:ext cx="2808060" cy="3015196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74A1C3B-F1EE-8191-9FAC-87ED4EED0051}"/>
              </a:ext>
            </a:extLst>
          </p:cNvPr>
          <p:cNvSpPr/>
          <p:nvPr/>
        </p:nvSpPr>
        <p:spPr>
          <a:xfrm>
            <a:off x="6335942" y="2190307"/>
            <a:ext cx="2808060" cy="3015196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A932FCC1-F172-48FF-AEAD-6A767A479F79}"/>
              </a:ext>
            </a:extLst>
          </p:cNvPr>
          <p:cNvSpPr/>
          <p:nvPr/>
        </p:nvSpPr>
        <p:spPr>
          <a:xfrm>
            <a:off x="1446028" y="5752214"/>
            <a:ext cx="6251944" cy="79291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034EB2-6996-1AC5-0ACA-E19845C6D1FA}"/>
              </a:ext>
            </a:extLst>
          </p:cNvPr>
          <p:cNvSpPr txBox="1"/>
          <p:nvPr/>
        </p:nvSpPr>
        <p:spPr>
          <a:xfrm>
            <a:off x="-85060" y="3090446"/>
            <a:ext cx="28931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administrative process.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communication Channels.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management of unclaimed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436306-4AA4-0097-9370-C408E4A76E6C}"/>
              </a:ext>
            </a:extLst>
          </p:cNvPr>
          <p:cNvSpPr txBox="1"/>
          <p:nvPr/>
        </p:nvSpPr>
        <p:spPr>
          <a:xfrm>
            <a:off x="496717" y="2372464"/>
            <a:ext cx="18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046676-C763-8771-BEAA-38D497EABA2E}"/>
              </a:ext>
            </a:extLst>
          </p:cNvPr>
          <p:cNvSpPr txBox="1"/>
          <p:nvPr/>
        </p:nvSpPr>
        <p:spPr>
          <a:xfrm>
            <a:off x="3668769" y="2464977"/>
            <a:ext cx="18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AB44C7-11A0-B250-783E-8800910A7FF2}"/>
              </a:ext>
            </a:extLst>
          </p:cNvPr>
          <p:cNvSpPr txBox="1"/>
          <p:nvPr/>
        </p:nvSpPr>
        <p:spPr>
          <a:xfrm>
            <a:off x="6915252" y="2400812"/>
            <a:ext cx="181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984FA-4B4F-0DB1-8E46-893C42820F4A}"/>
              </a:ext>
            </a:extLst>
          </p:cNvPr>
          <p:cNvSpPr txBox="1"/>
          <p:nvPr/>
        </p:nvSpPr>
        <p:spPr>
          <a:xfrm>
            <a:off x="6614421" y="3200400"/>
            <a:ext cx="23913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automated system.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efficient system to manage unclaimed items.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2E1814-1C13-C29F-5CDC-4A9842D9AD14}"/>
              </a:ext>
            </a:extLst>
          </p:cNvPr>
          <p:cNvSpPr txBox="1"/>
          <p:nvPr/>
        </p:nvSpPr>
        <p:spPr>
          <a:xfrm>
            <a:off x="3376322" y="3090446"/>
            <a:ext cx="239135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inefficient system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recovery success rate.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G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0DC572-AB9C-1AFC-7578-5F8677185301}"/>
              </a:ext>
            </a:extLst>
          </p:cNvPr>
          <p:cNvSpPr txBox="1"/>
          <p:nvPr/>
        </p:nvSpPr>
        <p:spPr>
          <a:xfrm>
            <a:off x="1792071" y="5825505"/>
            <a:ext cx="5720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challenges can be solved by developing a Smart Item recovery Ecosystem with donation Integration. 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5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1665" y="589712"/>
            <a:ext cx="4840669" cy="1293028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81375"/>
              </p:ext>
            </p:extLst>
          </p:nvPr>
        </p:nvGraphicFramePr>
        <p:xfrm>
          <a:off x="16107" y="2169016"/>
          <a:ext cx="9145356" cy="443006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53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643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64275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sz="900" dirty="0"/>
                        <a:t>S/N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Title of Paper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Author(s)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Year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Methodology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Findings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Limitations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70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/>
                        <a:t>Helping Hand: An Interactive Mobile Application Featuring Underprivileged People Assistance With Donation and Beneficiary Selection Facilities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GB" sz="900" dirty="0" err="1"/>
                        <a:t>Mahfuzulhoq</a:t>
                      </a:r>
                      <a:r>
                        <a:rPr lang="en-GB" sz="900" dirty="0"/>
                        <a:t> Chowdhury,</a:t>
                      </a:r>
                    </a:p>
                    <a:p>
                      <a:pPr algn="l">
                        <a:defRPr sz="900"/>
                      </a:pPr>
                      <a:r>
                        <a:rPr lang="en-GB" sz="900" dirty="0"/>
                        <a:t>Alve Ahmad(2023)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/>
                        <a:t>2023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+mj-lt"/>
                          <a:cs typeface="Times New Roman" panose="02020603050405020304" pitchFamily="18" charset="0"/>
                        </a:rPr>
                        <a:t>Waterfall methodology</a:t>
                      </a:r>
                      <a:endParaRPr sz="9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Developed an interactive mobile application aimed at assisting underprivileged people through a donation-based support system.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/>
                        <a:t>Focuses only on donation. Lacks item recovery ecosystem.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728715"/>
                  </a:ext>
                </a:extLst>
              </a:tr>
              <a:tr h="106998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 err="1"/>
                        <a:t>AppalLOCATE</a:t>
                      </a:r>
                      <a:r>
                        <a:rPr sz="900" dirty="0"/>
                        <a:t>: A Lost and Found Solution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Derek Clark Wilson</a:t>
                      </a:r>
                      <a:r>
                        <a:rPr lang="en-US" sz="900" dirty="0"/>
                        <a:t>(2023)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2023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Hybrid web/mobile app design with contextual search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Combined location-based tracking with item database.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Prototype only.</a:t>
                      </a:r>
                      <a:r>
                        <a:rPr lang="en-US" sz="900" dirty="0"/>
                        <a:t> Lack of proper implementation.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70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An Effective Lost and Found System in University Campus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Siok Yee Tan &amp; Cia Rui Chong</a:t>
                      </a:r>
                      <a:r>
                        <a:rPr lang="en-US" sz="900" dirty="0"/>
                        <a:t>(2023)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2023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PHP, MySQL, and web development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Enhanced authentication and reporting accuracy on campus.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Limited external applicability.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0702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Web-Based Lost and Found System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Satendra Kumar et al.</a:t>
                      </a:r>
                      <a:r>
                        <a:rPr lang="en-US" sz="900" dirty="0"/>
                        <a:t>(2022)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2022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Web portal using HTML, PHP, and MySQL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Simplified reporting and recovery through a centralized database.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/>
                        <a:t>Lack of automated item verification (</a:t>
                      </a:r>
                      <a:r>
                        <a:rPr sz="900" dirty="0"/>
                        <a:t>Manual </a:t>
                      </a:r>
                      <a:r>
                        <a:rPr lang="en-US" sz="900" dirty="0"/>
                        <a:t> </a:t>
                      </a:r>
                      <a:r>
                        <a:rPr sz="900" dirty="0"/>
                        <a:t>verification</a:t>
                      </a:r>
                      <a:r>
                        <a:rPr lang="en-US" sz="900" dirty="0"/>
                        <a:t>).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9385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3368953-DB1F-D539-AEC7-99E0C8227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858839"/>
              </p:ext>
            </p:extLst>
          </p:nvPr>
        </p:nvGraphicFramePr>
        <p:xfrm>
          <a:off x="215152" y="2250618"/>
          <a:ext cx="8748819" cy="370104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1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44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9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7616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sz="900" dirty="0"/>
                        <a:t>S/N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Title of Paper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Author(s)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Year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Methodology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Findings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Limitations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663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Development of User-Friendly Web-Based Lost and Found System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 err="1"/>
                        <a:t>Khairunnahar</a:t>
                      </a:r>
                      <a:r>
                        <a:rPr sz="900" dirty="0"/>
                        <a:t> Suchana et al.</a:t>
                      </a:r>
                      <a:r>
                        <a:rPr lang="en-US" sz="900" dirty="0"/>
                        <a:t>(2021)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2021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Web app development, usability testing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Developed an efficient online reporting and retrieval system for lost items.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Limited to </a:t>
                      </a:r>
                      <a:r>
                        <a:rPr lang="en-US" sz="900" dirty="0"/>
                        <a:t>web application</a:t>
                      </a:r>
                      <a:r>
                        <a:rPr sz="900" dirty="0"/>
                        <a:t>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22"/>
                  </a:ext>
                </a:extLst>
              </a:tr>
              <a:tr h="7666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en-NG" sz="9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An effective lost and found system in university campus</a:t>
                      </a:r>
                      <a:endParaRPr lang="en-NG" sz="9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S. Y. Tan &amp; C. R. Chong(2023)</a:t>
                      </a:r>
                      <a:endParaRPr lang="en-NG" sz="9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2023</a:t>
                      </a:r>
                      <a:endParaRPr lang="en-NG" sz="900" kern="1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analysis of the pretesting, functional requirement, and system model</a:t>
                      </a:r>
                      <a:endParaRPr lang="en-NG" sz="900" kern="1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The system successfully helped the students and staff of UKM to find their lost belongings and items faster and easier</a:t>
                      </a:r>
                      <a:endParaRPr lang="en-NG" sz="900" kern="1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mobile application is exclusive to Android devices, limited accessibility,</a:t>
                      </a:r>
                      <a:endParaRPr lang="en-NG" sz="900" kern="1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6687513"/>
                  </a:ext>
                </a:extLst>
              </a:tr>
              <a:tr h="766663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 err="1"/>
                        <a:t>LostNet</a:t>
                      </a:r>
                      <a:r>
                        <a:rPr sz="900" dirty="0"/>
                        <a:t>: A Smart Way for Lost and Find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Meihua Zhou et al.</a:t>
                      </a:r>
                      <a:r>
                        <a:rPr lang="en-US" sz="900" dirty="0"/>
                        <a:t>(2023)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2023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/>
                        <a:t>Deep learning (MobileNetV2 + attention mechanism)</a:t>
                      </a:r>
                      <a:endParaRPr sz="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Achieved 96.8% accuracy for image-based item retrieval.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sz="900" dirty="0"/>
                        <a:t>Focuses only on visual recognition</a:t>
                      </a:r>
                      <a:r>
                        <a:rPr lang="en-US" sz="900" dirty="0"/>
                        <a:t> and lacks donation integration.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15012"/>
                  </a:ext>
                </a:extLst>
              </a:tr>
              <a:tr h="771043"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1000" dirty="0">
                          <a:latin typeface="+mj-lt"/>
                          <a:cs typeface="Times New Roman" panose="02020603050405020304" pitchFamily="18" charset="0"/>
                        </a:rPr>
                        <a:t>Design and Implementation of a Lost but Found Mobile app: A case Study for Nile University</a:t>
                      </a:r>
                      <a:endParaRPr sz="10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+mj-lt"/>
                          <a:cs typeface="Times New Roman" panose="02020603050405020304" pitchFamily="18" charset="0"/>
                        </a:rPr>
                        <a:t>Fatima Yahaya(2025)</a:t>
                      </a:r>
                      <a:endParaRPr sz="9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+mj-lt"/>
                          <a:cs typeface="Times New Roman" panose="02020603050405020304" pitchFamily="18" charset="0"/>
                        </a:rPr>
                        <a:t>Mobile app development using React(native,) node.js, MongoDB</a:t>
                      </a:r>
                      <a:endParaRPr sz="9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+mj-lt"/>
                          <a:cs typeface="Times New Roman" panose="02020603050405020304" pitchFamily="18" charset="0"/>
                        </a:rPr>
                        <a:t>Developed a mobile system to assist individuals in locating lost items</a:t>
                      </a:r>
                      <a:endParaRPr sz="9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rPr lang="en-US" sz="900" dirty="0">
                          <a:latin typeface="+mj-lt"/>
                          <a:cs typeface="Times New Roman" panose="02020603050405020304" pitchFamily="18" charset="0"/>
                        </a:rPr>
                        <a:t>Lacks integration of donation system to manage unclaimed items. Lacks AI image recognition.</a:t>
                      </a:r>
                      <a:endParaRPr sz="9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17010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C149F3C5-FF33-D859-AFEA-AEA2E71B7DEB}"/>
              </a:ext>
            </a:extLst>
          </p:cNvPr>
          <p:cNvSpPr txBox="1">
            <a:spLocks/>
          </p:cNvSpPr>
          <p:nvPr/>
        </p:nvSpPr>
        <p:spPr>
          <a:xfrm>
            <a:off x="578864" y="3886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</a:p>
        </p:txBody>
      </p:sp>
    </p:spTree>
    <p:extLst>
      <p:ext uri="{BB962C8B-B14F-4D97-AF65-F5344CB8AC3E}">
        <p14:creationId xmlns:p14="http://schemas.microsoft.com/office/powerpoint/2010/main" val="12358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B6100-8486-8C02-0731-F7B6A758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802" y="768458"/>
            <a:ext cx="4830395" cy="129302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LITERATURE</a:t>
            </a:r>
            <a:endParaRPr lang="en-NG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A437EA-EC7A-5F53-92DA-778A9D08D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020" y="2902454"/>
            <a:ext cx="8823960" cy="2777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focus only on item recovery or donation and not both.</a:t>
            </a:r>
            <a:endParaRPr lang="en-N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Smart Features</a:t>
            </a:r>
          </a:p>
          <a:p>
            <a:pPr marL="457200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AI image recognition are often missing in traditional item recovery systems.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NG" altLang="en-N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295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27BB0-9E46-7124-7683-8D47A8108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589" y="802027"/>
            <a:ext cx="3854350" cy="1293028"/>
          </a:xfrm>
          <a:noFill/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  <a:endParaRPr lang="en-NG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1326-6B55-9FB8-FA8E-5E71AE36D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174" y="2197964"/>
            <a:ext cx="7684618" cy="841566"/>
          </a:xfrm>
        </p:spPr>
        <p:txBody>
          <a:bodyPr anchor="ctr" anchorCtr="0">
            <a:normAutofit fontScale="25000" lnSpcReduction="20000"/>
          </a:bodyPr>
          <a:lstStyle/>
          <a:p>
            <a:pPr marL="0" indent="0" algn="just">
              <a:buNone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GB" sz="6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our project is to develop a Smart Item Recovery Ecosystem with Donation Integration.</a:t>
            </a:r>
            <a:endParaRPr lang="en-US" sz="6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6CBA0C1-144B-746E-79E9-9442A06BD154}"/>
              </a:ext>
            </a:extLst>
          </p:cNvPr>
          <p:cNvSpPr txBox="1">
            <a:spLocks/>
          </p:cNvSpPr>
          <p:nvPr/>
        </p:nvSpPr>
        <p:spPr>
          <a:xfrm>
            <a:off x="861901" y="2976905"/>
            <a:ext cx="7684618" cy="84156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of this project will be achieved through the following specific objectives: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8D8CDB-3B2A-B448-3BD4-03CADBA64705}"/>
              </a:ext>
            </a:extLst>
          </p:cNvPr>
          <p:cNvGrpSpPr/>
          <p:nvPr/>
        </p:nvGrpSpPr>
        <p:grpSpPr>
          <a:xfrm>
            <a:off x="468174" y="4192175"/>
            <a:ext cx="2333550" cy="1578952"/>
            <a:chOff x="0" y="-28575"/>
            <a:chExt cx="3036979" cy="2024180"/>
          </a:xfrm>
        </p:grpSpPr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63C31411-441C-5966-5E24-D9DB72B48EE6}"/>
                </a:ext>
              </a:extLst>
            </p:cNvPr>
            <p:cNvSpPr txBox="1"/>
            <p:nvPr/>
          </p:nvSpPr>
          <p:spPr>
            <a:xfrm>
              <a:off x="0" y="-28575"/>
              <a:ext cx="3036979" cy="47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249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Garet Bold"/>
                  <a:cs typeface="Times New Roman" panose="02020603050405020304" pitchFamily="18" charset="0"/>
                  <a:sym typeface="Garet Bold"/>
                </a:rPr>
                <a:t>Objective 1</a:t>
              </a:r>
            </a:p>
          </p:txBody>
        </p:sp>
        <p:sp>
          <p:nvSpPr>
            <p:cNvPr id="20" name="TextBox 12">
              <a:extLst>
                <a:ext uri="{FF2B5EF4-FFF2-40B4-BE49-F238E27FC236}">
                  <a16:creationId xmlns:a16="http://schemas.microsoft.com/office/drawing/2014/main" id="{25D8B289-1F4A-8E9E-1A12-AF780F246A33}"/>
                </a:ext>
              </a:extLst>
            </p:cNvPr>
            <p:cNvSpPr txBox="1"/>
            <p:nvPr/>
          </p:nvSpPr>
          <p:spPr>
            <a:xfrm>
              <a:off x="0" y="622856"/>
              <a:ext cx="3036979" cy="1372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design a Smart item recovery ecosystem with donation integration.</a:t>
              </a:r>
              <a:endPara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2D6CC2-B90B-F86A-A654-53D0901C0670}"/>
              </a:ext>
            </a:extLst>
          </p:cNvPr>
          <p:cNvGrpSpPr/>
          <p:nvPr/>
        </p:nvGrpSpPr>
        <p:grpSpPr>
          <a:xfrm>
            <a:off x="3641753" y="4192175"/>
            <a:ext cx="2333550" cy="1207056"/>
            <a:chOff x="0" y="-28575"/>
            <a:chExt cx="3036979" cy="1547418"/>
          </a:xfrm>
        </p:grpSpPr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9BE7477A-5872-60BF-0E76-DCACB19B417D}"/>
                </a:ext>
              </a:extLst>
            </p:cNvPr>
            <p:cNvSpPr txBox="1"/>
            <p:nvPr/>
          </p:nvSpPr>
          <p:spPr>
            <a:xfrm>
              <a:off x="0" y="-28575"/>
              <a:ext cx="3036979" cy="47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249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Garet Bold"/>
                  <a:cs typeface="Times New Roman" panose="02020603050405020304" pitchFamily="18" charset="0"/>
                  <a:sym typeface="Garet Bold"/>
                </a:rPr>
                <a:t>Objective 2</a:t>
              </a: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5C8B1DC2-5E1E-88B5-2F26-29640054E4AC}"/>
                </a:ext>
              </a:extLst>
            </p:cNvPr>
            <p:cNvSpPr txBox="1"/>
            <p:nvPr/>
          </p:nvSpPr>
          <p:spPr>
            <a:xfrm>
              <a:off x="0" y="622857"/>
              <a:ext cx="3036979" cy="895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59"/>
                </a:lnSpc>
                <a:spcBef>
                  <a:spcPct val="0"/>
                </a:spcBef>
              </a:pPr>
              <a:r>
                <a:rPr lang="en-GB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 implement the first Objective.</a:t>
              </a:r>
              <a:endPara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322C09-5540-F684-9CE4-7B0E66F8C4C2}"/>
              </a:ext>
            </a:extLst>
          </p:cNvPr>
          <p:cNvGrpSpPr/>
          <p:nvPr/>
        </p:nvGrpSpPr>
        <p:grpSpPr>
          <a:xfrm>
            <a:off x="6654395" y="4126340"/>
            <a:ext cx="2333550" cy="1515025"/>
            <a:chOff x="0" y="-28575"/>
            <a:chExt cx="3036979" cy="1942229"/>
          </a:xfrm>
        </p:grpSpPr>
        <p:sp>
          <p:nvSpPr>
            <p:cNvPr id="16" name="TextBox 11">
              <a:extLst>
                <a:ext uri="{FF2B5EF4-FFF2-40B4-BE49-F238E27FC236}">
                  <a16:creationId xmlns:a16="http://schemas.microsoft.com/office/drawing/2014/main" id="{73F1ADAA-BAE0-7A6D-9530-711C4B56CF6D}"/>
                </a:ext>
              </a:extLst>
            </p:cNvPr>
            <p:cNvSpPr txBox="1"/>
            <p:nvPr/>
          </p:nvSpPr>
          <p:spPr>
            <a:xfrm>
              <a:off x="0" y="-28575"/>
              <a:ext cx="3036979" cy="475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3249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Garet Bold"/>
                  <a:cs typeface="Times New Roman" panose="02020603050405020304" pitchFamily="18" charset="0"/>
                  <a:sym typeface="Garet Bold"/>
                </a:rPr>
                <a:t> Objective 3</a:t>
              </a:r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E7CAA069-A9A8-9377-9448-7D45006ADFC4}"/>
                </a:ext>
              </a:extLst>
            </p:cNvPr>
            <p:cNvSpPr txBox="1"/>
            <p:nvPr/>
          </p:nvSpPr>
          <p:spPr>
            <a:xfrm>
              <a:off x="0" y="622857"/>
              <a:ext cx="3036979" cy="1290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000"/>
                </a:lnSpc>
                <a:spcBef>
                  <a:spcPct val="0"/>
                </a:spcBef>
              </a:pPr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test  the system to ensure that it satisfies all functional and non-functional requirements.</a:t>
              </a:r>
              <a:endParaRPr lang="en-US" sz="15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5229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E13A-6CE6-5A9A-B2C9-22BC9D4B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4927" y="812398"/>
            <a:ext cx="4125669" cy="129302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PROCESS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5DFBD-AA25-B62E-2160-EE9090244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646" y="3892110"/>
            <a:ext cx="1300334" cy="11540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B79265-94EC-89AA-031A-E68F23521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153" y="4192388"/>
            <a:ext cx="1707636" cy="853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9C0054-4A28-CCD6-E858-16125D008F95}"/>
              </a:ext>
            </a:extLst>
          </p:cNvPr>
          <p:cNvSpPr txBox="1"/>
          <p:nvPr/>
        </p:nvSpPr>
        <p:spPr>
          <a:xfrm>
            <a:off x="156818" y="5673687"/>
            <a:ext cx="3585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and data to measure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usage and performance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67CC5-2975-9921-6B29-2B5778F0B9A2}"/>
              </a:ext>
            </a:extLst>
          </p:cNvPr>
          <p:cNvSpPr txBox="1"/>
          <p:nvPr/>
        </p:nvSpPr>
        <p:spPr>
          <a:xfrm>
            <a:off x="724186" y="5133602"/>
            <a:ext cx="2451253" cy="4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24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Quantitative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43088-462D-72FB-933A-58E9296A7C13}"/>
              </a:ext>
            </a:extLst>
          </p:cNvPr>
          <p:cNvSpPr txBox="1"/>
          <p:nvPr/>
        </p:nvSpPr>
        <p:spPr>
          <a:xfrm>
            <a:off x="5869226" y="5133602"/>
            <a:ext cx="2605489" cy="4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3249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Qualitative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A8B11-FF0A-E1BF-EA53-E1A75CAE5886}"/>
              </a:ext>
            </a:extLst>
          </p:cNvPr>
          <p:cNvSpPr txBox="1"/>
          <p:nvPr/>
        </p:nvSpPr>
        <p:spPr>
          <a:xfrm>
            <a:off x="5423042" y="5673686"/>
            <a:ext cx="349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to understand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and improve design.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B039BD-6360-0322-E3E7-3FC12CED76DA}"/>
              </a:ext>
            </a:extLst>
          </p:cNvPr>
          <p:cNvSpPr txBox="1"/>
          <p:nvPr/>
        </p:nvSpPr>
        <p:spPr>
          <a:xfrm>
            <a:off x="2734927" y="2536173"/>
            <a:ext cx="3583226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Mixed Method</a:t>
            </a:r>
          </a:p>
        </p:txBody>
      </p:sp>
    </p:spTree>
    <p:extLst>
      <p:ext uri="{BB962C8B-B14F-4D97-AF65-F5344CB8AC3E}">
        <p14:creationId xmlns:p14="http://schemas.microsoft.com/office/powerpoint/2010/main" val="3669091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6F14-F95D-864C-5B56-56108E5A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1" y="2731846"/>
            <a:ext cx="3679634" cy="84141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65739-89BF-9D28-E733-5B0CA0FE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95" y="1089838"/>
            <a:ext cx="5301420" cy="467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120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F4E80-0CEA-9020-B690-348571F8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 and Tools</a:t>
            </a:r>
            <a:endParaRPr lang="en-N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3E0D5-CA8E-CFE9-E903-E0ACDD96B03B}"/>
              </a:ext>
            </a:extLst>
          </p:cNvPr>
          <p:cNvSpPr txBox="1"/>
          <p:nvPr/>
        </p:nvSpPr>
        <p:spPr>
          <a:xfrm>
            <a:off x="501267" y="2401356"/>
            <a:ext cx="2451253" cy="42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FRONTEND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AFC4E7-9C66-1DFE-91E9-116D1370E7D2}"/>
              </a:ext>
            </a:extLst>
          </p:cNvPr>
          <p:cNvSpPr txBox="1"/>
          <p:nvPr/>
        </p:nvSpPr>
        <p:spPr>
          <a:xfrm>
            <a:off x="3040655" y="2401355"/>
            <a:ext cx="2941504" cy="42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BACKEND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1B79F-7F72-B09B-CB69-D6BD62BB8DD9}"/>
              </a:ext>
            </a:extLst>
          </p:cNvPr>
          <p:cNvSpPr txBox="1"/>
          <p:nvPr/>
        </p:nvSpPr>
        <p:spPr>
          <a:xfrm>
            <a:off x="6191482" y="2401356"/>
            <a:ext cx="2129929" cy="42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DATABASE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FE05D-4029-B6D7-07BE-52FF4C621B3F}"/>
              </a:ext>
            </a:extLst>
          </p:cNvPr>
          <p:cNvSpPr txBox="1"/>
          <p:nvPr/>
        </p:nvSpPr>
        <p:spPr>
          <a:xfrm>
            <a:off x="6274109" y="3198706"/>
            <a:ext cx="1964674" cy="404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Garet"/>
                <a:cs typeface="Times New Roman" panose="02020603050405020304" pitchFamily="18" charset="0"/>
                <a:sym typeface="Garet"/>
              </a:rPr>
              <a:t>Firebase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EA8F4-527D-CF91-6AAC-22A763AB9B9D}"/>
              </a:ext>
            </a:extLst>
          </p:cNvPr>
          <p:cNvSpPr txBox="1"/>
          <p:nvPr/>
        </p:nvSpPr>
        <p:spPr>
          <a:xfrm>
            <a:off x="3510250" y="3192166"/>
            <a:ext cx="1961003" cy="411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ts val="2661"/>
              </a:lnSpc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Garet" panose="020B0604020202020204" charset="0"/>
                <a:cs typeface="Times New Roman" panose="02020603050405020304" pitchFamily="18" charset="0"/>
              </a:rPr>
              <a:t>Dart</a:t>
            </a:r>
            <a:endParaRPr lang="en-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3F0401-30BB-97B4-CDC3-ECD991B4DB74}"/>
              </a:ext>
            </a:extLst>
          </p:cNvPr>
          <p:cNvSpPr txBox="1"/>
          <p:nvPr/>
        </p:nvSpPr>
        <p:spPr>
          <a:xfrm>
            <a:off x="746391" y="3198706"/>
            <a:ext cx="1961003" cy="411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ts val="2661"/>
              </a:lnSpc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Garet" panose="020B0604020202020204" charset="0"/>
                <a:cs typeface="Times New Roman" panose="02020603050405020304" pitchFamily="18" charset="0"/>
              </a:rPr>
              <a:t>Flutter</a:t>
            </a:r>
            <a:endParaRPr lang="en-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8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F5368-6DAE-EBA4-1406-73C3B443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plan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8F694A-6CAC-CFD3-F66E-6614402DA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428613"/>
              </p:ext>
            </p:extLst>
          </p:nvPr>
        </p:nvGraphicFramePr>
        <p:xfrm>
          <a:off x="1024570" y="1839817"/>
          <a:ext cx="6995712" cy="459699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2331904">
                  <a:extLst>
                    <a:ext uri="{9D8B030D-6E8A-4147-A177-3AD203B41FA5}">
                      <a16:colId xmlns:a16="http://schemas.microsoft.com/office/drawing/2014/main" val="1671624237"/>
                    </a:ext>
                  </a:extLst>
                </a:gridCol>
                <a:gridCol w="2331904">
                  <a:extLst>
                    <a:ext uri="{9D8B030D-6E8A-4147-A177-3AD203B41FA5}">
                      <a16:colId xmlns:a16="http://schemas.microsoft.com/office/drawing/2014/main" val="3332145856"/>
                    </a:ext>
                  </a:extLst>
                </a:gridCol>
                <a:gridCol w="2331904">
                  <a:extLst>
                    <a:ext uri="{9D8B030D-6E8A-4147-A177-3AD203B41FA5}">
                      <a16:colId xmlns:a16="http://schemas.microsoft.com/office/drawing/2014/main" val="64354749"/>
                    </a:ext>
                  </a:extLst>
                </a:gridCol>
              </a:tblGrid>
              <a:tr h="4627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 dirty="0">
                          <a:effectLst/>
                        </a:rPr>
                        <a:t>Phase</a:t>
                      </a:r>
                      <a:endParaRPr lang="en-NG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>
                          <a:effectLst/>
                        </a:rPr>
                        <a:t>Duration</a:t>
                      </a:r>
                      <a:endParaRPr lang="en-NG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 dirty="0">
                          <a:effectLst/>
                        </a:rPr>
                        <a:t>Key Activities</a:t>
                      </a:r>
                      <a:endParaRPr lang="en-NG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3951257224"/>
                  </a:ext>
                </a:extLst>
              </a:tr>
              <a:tr h="592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Requirements Analysis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1–2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Stakeholder interviews, literature review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1622778781"/>
                  </a:ext>
                </a:extLst>
              </a:tr>
              <a:tr h="592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Design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3–4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System architecture, UI/UX mockups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2235062302"/>
                  </a:ext>
                </a:extLst>
              </a:tr>
              <a:tr h="391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Implementation Sprint 1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5–6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User registration and item reporting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1474409444"/>
                  </a:ext>
                </a:extLst>
              </a:tr>
              <a:tr h="3892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Implementation Sprint 2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7–8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AI-image recognition module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2208126198"/>
                  </a:ext>
                </a:extLst>
              </a:tr>
              <a:tr h="3913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Implementation Sprint 3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9–10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Donation listing and claim module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616789009"/>
                  </a:ext>
                </a:extLst>
              </a:tr>
              <a:tr h="592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Testing &amp; Debugging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11–12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Usability testing, performance evaluation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3945977238"/>
                  </a:ext>
                </a:extLst>
              </a:tr>
              <a:tr h="592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Deployment &amp; Evaluation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13–14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Pilot deployment, feedback collection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3499530406"/>
                  </a:ext>
                </a:extLst>
              </a:tr>
              <a:tr h="5924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Documentation and Wrap-up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effectLst/>
                        </a:rPr>
                        <a:t>Week 15</a:t>
                      </a:r>
                      <a:endParaRPr lang="en-NG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 dirty="0">
                          <a:effectLst/>
                        </a:rPr>
                        <a:t>Final report, user manual, project handover</a:t>
                      </a:r>
                      <a:endParaRPr lang="en-NG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186" marR="68186" marT="0" marB="0"/>
                </a:tc>
                <a:extLst>
                  <a:ext uri="{0D108BD9-81ED-4DB2-BD59-A6C34878D82A}">
                    <a16:rowId xmlns:a16="http://schemas.microsoft.com/office/drawing/2014/main" val="112629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050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A2EB-5F17-07EB-7373-B3DD1084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1274" y="466422"/>
            <a:ext cx="2621451" cy="129302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NG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C5C19399-07BF-0B5A-DCC1-9ED1DE38881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93725" y="3075274"/>
            <a:ext cx="7956550" cy="10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practicality and benefits of automating Nile university’s item recovery process.</a:t>
            </a:r>
          </a:p>
        </p:txBody>
      </p:sp>
    </p:spTree>
    <p:extLst>
      <p:ext uri="{BB962C8B-B14F-4D97-AF65-F5344CB8AC3E}">
        <p14:creationId xmlns:p14="http://schemas.microsoft.com/office/powerpoint/2010/main" val="2978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25E9-96DD-990D-DFB7-5A3300C1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5589" y="690053"/>
            <a:ext cx="3027621" cy="100052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NG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83C5-A5DB-CF41-A50B-68981D6C8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Chowdhury, M., &amp; Ahmad, A. (2023). </a:t>
            </a:r>
            <a:r>
              <a:rPr lang="en-US" i="1" dirty="0"/>
              <a:t>Helping Hand: An Interactive Mobile Application Featuring Underprivileged People Assistance With Donation and Beneficiary Selection Facilities</a:t>
            </a:r>
            <a:r>
              <a:rPr lang="en-US" dirty="0"/>
              <a:t>. 1–6</a:t>
            </a:r>
          </a:p>
          <a:p>
            <a:pPr marL="0" indent="0">
              <a:buNone/>
            </a:pPr>
            <a:r>
              <a:rPr lang="en-US" dirty="0"/>
              <a:t>Wilson, D. C. (2025). </a:t>
            </a:r>
            <a:r>
              <a:rPr lang="en-US" i="1" dirty="0" err="1"/>
              <a:t>AppalLOCATE</a:t>
            </a:r>
            <a:r>
              <a:rPr lang="en-US" i="1" dirty="0"/>
              <a:t>: A Lost and Found Solution</a:t>
            </a:r>
            <a:r>
              <a:rPr lang="en-US" dirty="0"/>
              <a:t> (Doctoral dissertation, Appalachian State University).</a:t>
            </a:r>
          </a:p>
          <a:p>
            <a:pPr marL="0" indent="0">
              <a:buNone/>
            </a:pPr>
            <a:r>
              <a:rPr lang="en-US" dirty="0"/>
              <a:t>Tan, S. Y., &amp; Chong, C. R. (2023). An effective lost and found system in university campus. </a:t>
            </a:r>
            <a:r>
              <a:rPr lang="en-US" i="1" dirty="0" err="1"/>
              <a:t>Jistem</a:t>
            </a:r>
            <a:r>
              <a:rPr lang="en-US" i="1" dirty="0"/>
              <a:t> Journal of Information Systems and Technology Management</a:t>
            </a:r>
          </a:p>
          <a:p>
            <a:pPr marL="0" indent="0">
              <a:buNone/>
            </a:pPr>
            <a:r>
              <a:rPr lang="en-US" dirty="0"/>
              <a:t>Kumar, S., Bhatnagar, D., Gahlot, D., Gola, B. S., &amp; Rajput, G. (2022). Web-Based Lost and Found System. </a:t>
            </a:r>
            <a:r>
              <a:rPr lang="en-US" i="1" dirty="0"/>
              <a:t>MIT International Journal of Computer Science and Information Technology</a:t>
            </a:r>
            <a:r>
              <a:rPr lang="en-US" dirty="0"/>
              <a:t>, </a:t>
            </a:r>
            <a:r>
              <a:rPr lang="en-US" i="1" dirty="0"/>
              <a:t>11</a:t>
            </a:r>
            <a:r>
              <a:rPr lang="en-US" dirty="0"/>
              <a:t>(1).</a:t>
            </a:r>
          </a:p>
        </p:txBody>
      </p:sp>
    </p:spTree>
    <p:extLst>
      <p:ext uri="{BB962C8B-B14F-4D97-AF65-F5344CB8AC3E}">
        <p14:creationId xmlns:p14="http://schemas.microsoft.com/office/powerpoint/2010/main" val="117557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492E-E2DD-FD62-46BA-A9976AEC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205" y="764373"/>
            <a:ext cx="3598817" cy="105136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E887-68B7-E095-4030-D4DC5D7EC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Suchana, K., Alam, S.M.E., Meem, A.T., </a:t>
            </a:r>
            <a:r>
              <a:rPr lang="en-US" dirty="0" err="1"/>
              <a:t>Turjo</a:t>
            </a:r>
            <a:r>
              <a:rPr lang="en-US" dirty="0"/>
              <a:t>, M.D. and Khan, M.M., 2021. Development of User-Friendly Web-Based Lost and Found System. </a:t>
            </a:r>
            <a:r>
              <a:rPr lang="en-US" i="1" dirty="0"/>
              <a:t>Journal of Software Engineering and Applications</a:t>
            </a:r>
            <a:r>
              <a:rPr lang="en-US" dirty="0"/>
              <a:t>, </a:t>
            </a:r>
            <a:r>
              <a:rPr lang="en-US" i="1" dirty="0"/>
              <a:t>14</a:t>
            </a:r>
            <a:r>
              <a:rPr lang="en-US" dirty="0"/>
              <a:t>(10), pp.575-590.</a:t>
            </a:r>
          </a:p>
          <a:p>
            <a:pPr marL="0" indent="0">
              <a:buNone/>
            </a:pPr>
            <a:r>
              <a:rPr lang="en-US" dirty="0"/>
              <a:t>Tan, S. Y., &amp; Chong, C. R. (2023). An Effective Lost And Found System In University Campus. </a:t>
            </a:r>
            <a:r>
              <a:rPr lang="en-US" i="1" dirty="0"/>
              <a:t>Journal of Information System and Technology Management</a:t>
            </a:r>
            <a:r>
              <a:rPr lang="en-US" dirty="0"/>
              <a:t>, </a:t>
            </a:r>
            <a:r>
              <a:rPr lang="en-US" i="1" dirty="0"/>
              <a:t>8</a:t>
            </a:r>
            <a:r>
              <a:rPr lang="en-US" dirty="0"/>
              <a:t>(32), 99-112.</a:t>
            </a:r>
          </a:p>
          <a:p>
            <a:pPr marL="0" indent="0">
              <a:buNone/>
            </a:pPr>
            <a:r>
              <a:rPr lang="en-US" dirty="0"/>
              <a:t>Zhou, M., Fung, I., Yang, L., Wan, N., Di, K. and Wang, T., 2023. </a:t>
            </a:r>
            <a:r>
              <a:rPr lang="en-US" dirty="0" err="1"/>
              <a:t>LostNet</a:t>
            </a:r>
            <a:r>
              <a:rPr lang="en-US" dirty="0"/>
              <a:t>: A smart way for lost and find. </a:t>
            </a:r>
            <a:r>
              <a:rPr lang="en-US" i="1" dirty="0" err="1"/>
              <a:t>arXiv</a:t>
            </a:r>
            <a:r>
              <a:rPr lang="en-US" i="1" dirty="0"/>
              <a:t> preprint arXiv:2301.02277</a:t>
            </a:r>
            <a:r>
              <a:rPr lang="en-US" dirty="0"/>
              <a:t>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45325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22D41D-02CF-62C8-F5E7-74F7DB0E8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C3656B4-EBE5-BBC5-B678-00518791A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endParaRPr lang="en-N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69601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9712</TotalTime>
  <Words>1153</Words>
  <Application>Microsoft Office PowerPoint</Application>
  <PresentationFormat>On-screen Show (4:3)</PresentationFormat>
  <Paragraphs>198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Vapor Trail</vt:lpstr>
      <vt:lpstr>DESIGN AND IMPLEMENTATION OF A SMART ITEM RECOVERY ECOSYSTEM WITH DONATION INTEGRATION</vt:lpstr>
      <vt:lpstr>TABLE OF CONTENT</vt:lpstr>
      <vt:lpstr>BACKGROUND OF STUDY</vt:lpstr>
      <vt:lpstr>PROBLEM STATEMENT</vt:lpstr>
      <vt:lpstr>Related Works</vt:lpstr>
      <vt:lpstr>PowerPoint Presentation</vt:lpstr>
      <vt:lpstr>GAPS IN LITERATURE</vt:lpstr>
      <vt:lpstr>AIM AND OBJECTIVES</vt:lpstr>
      <vt:lpstr>RESEARCH PROCESS</vt:lpstr>
      <vt:lpstr>METHODOLOGY</vt:lpstr>
      <vt:lpstr>Development Environment and Tools</vt:lpstr>
      <vt:lpstr>Development plan</vt:lpstr>
      <vt:lpstr>CONCLUSION</vt:lpstr>
      <vt:lpstr>REFERENCES 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Ummusulaim Usman</dc:creator>
  <cp:keywords/>
  <dc:description>generated using python-pptx</dc:description>
  <cp:lastModifiedBy>Ummusulaim Usman</cp:lastModifiedBy>
  <cp:revision>115</cp:revision>
  <dcterms:created xsi:type="dcterms:W3CDTF">2013-01-27T09:14:16Z</dcterms:created>
  <dcterms:modified xsi:type="dcterms:W3CDTF">2025-10-29T09:22:01Z</dcterms:modified>
  <cp:category/>
</cp:coreProperties>
</file>